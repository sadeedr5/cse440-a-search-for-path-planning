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0" r:id="rId13"/>
    <p:sldId id="271" r:id="rId14"/>
    <p:sldId id="272" r:id="rId15"/>
    <p:sldId id="266" r:id="rId16"/>
    <p:sldId id="267" r:id="rId17"/>
    <p:sldId id="268" r:id="rId18"/>
  </p:sldIdLst>
  <p:sldSz cx="14630400" cy="8229600"/>
  <p:notesSz cx="8229600" cy="14630400"/>
  <p:embeddedFontLst>
    <p:embeddedFont>
      <p:font typeface="Outfit Extra Bold" panose="020B0604020202020204" charset="0"/>
      <p:regular r:id="rId20"/>
    </p:embeddedFont>
    <p:embeddedFont>
      <p:font typeface="Arimo" panose="020B0604020202020204" charset="0"/>
      <p:regular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CC"/>
    <a:srgbClr val="2319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6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1482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3377" y="470986"/>
            <a:ext cx="7556421" cy="3186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31971"/>
                </a:solidFill>
                <a:effectLst/>
                <a:uLnTx/>
                <a:uFillTx/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Design an autonomous robot for indoor navigation using A* search for path planning while avoiding obstacles. Equipped with sensors, it dynamically updates its environment knowledge, ensuring real-time path adjustments. </a:t>
            </a:r>
          </a:p>
          <a:p>
            <a:pPr marL="0" marR="0" lvl="0" indent="0" algn="ctr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231971"/>
                </a:solidFill>
                <a:latin typeface="Outfit Extra Bold" pitchFamily="34" charset="0"/>
              </a:rPr>
              <a:t>	</a:t>
            </a:r>
            <a:endParaRPr lang="en-US" sz="20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3657600"/>
            <a:ext cx="7556421" cy="2345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6019919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756440" y="6003012"/>
            <a:ext cx="372284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4CB3A58F-EC5E-41C4-BCF4-2857E7DF8A34}"/>
              </a:ext>
            </a:extLst>
          </p:cNvPr>
          <p:cNvSpPr txBox="1"/>
          <p:nvPr/>
        </p:nvSpPr>
        <p:spPr>
          <a:xfrm>
            <a:off x="6280190" y="3760839"/>
            <a:ext cx="7819268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By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</a:rPr>
              <a:t>Md </a:t>
            </a:r>
            <a:r>
              <a:rPr lang="en-US" sz="2000" b="1" dirty="0" err="1">
                <a:solidFill>
                  <a:srgbClr val="002060"/>
                </a:solidFill>
              </a:rPr>
              <a:t>Sadikur</a:t>
            </a:r>
            <a:r>
              <a:rPr lang="en-US" sz="2000" b="1" dirty="0">
                <a:solidFill>
                  <a:srgbClr val="002060"/>
                </a:solidFill>
              </a:rPr>
              <a:t> Rahman </a:t>
            </a:r>
            <a:r>
              <a:rPr lang="en-US" sz="2000" b="1" dirty="0" err="1">
                <a:solidFill>
                  <a:srgbClr val="002060"/>
                </a:solidFill>
              </a:rPr>
              <a:t>Sadeed</a:t>
            </a:r>
            <a:r>
              <a:rPr lang="en-US" sz="2000" b="1" dirty="0">
                <a:solidFill>
                  <a:srgbClr val="002060"/>
                </a:solidFill>
              </a:rPr>
              <a:t>    2112251042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002060"/>
                </a:solidFill>
              </a:rPr>
              <a:t>Md.Esak</a:t>
            </a:r>
            <a:r>
              <a:rPr lang="en-US" sz="2000" b="1" dirty="0">
                <a:solidFill>
                  <a:srgbClr val="002060"/>
                </a:solidFill>
              </a:rPr>
              <a:t> Ali        1921789042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002060"/>
                </a:solidFill>
              </a:rPr>
              <a:t>Ahanaf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Tahomid</a:t>
            </a:r>
            <a:r>
              <a:rPr lang="en-US" sz="2000" b="1" dirty="0">
                <a:solidFill>
                  <a:srgbClr val="002060"/>
                </a:solidFill>
              </a:rPr>
              <a:t>  1831920642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</a:rPr>
              <a:t>Md. Iftekhar Mahmood  2013525042 	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			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Node Class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Essential Element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Node class is a fundamental part of the A* path planning algorithm. It represents a position within the environment and stores information related to the path planning process.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39685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Each Node object holds its position coordinates, the cost of reaching it, and the cost to reach the goal from it. This data enables the efficient calculation of optimal paths.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2360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Node Class Structure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272546"/>
            <a:ext cx="7556421" cy="831771"/>
          </a:xfrm>
          <a:prstGeom prst="roundRect">
            <a:avLst>
              <a:gd name="adj" fmla="val 1145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506980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Position (x, y): Coordinates of the node within the environment.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3331131"/>
            <a:ext cx="7556421" cy="1194673"/>
          </a:xfrm>
          <a:prstGeom prst="roundRect">
            <a:avLst>
              <a:gd name="adj" fmla="val 797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14624" y="3565565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Parent Node: Reference to the node from which this node was reached.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4752618"/>
            <a:ext cx="7556421" cy="1194673"/>
          </a:xfrm>
          <a:prstGeom prst="roundRect">
            <a:avLst>
              <a:gd name="adj" fmla="val 797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4987052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Path Cost (g): The cost of reaching this node from the starting position.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6174105"/>
            <a:ext cx="7556421" cy="831771"/>
          </a:xfrm>
          <a:prstGeom prst="roundRect">
            <a:avLst>
              <a:gd name="adj" fmla="val 1145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6408539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Heuristic Cost (h): Estimated cost of reaching the goal from this node.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2234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Node Class Features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571286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5365075"/>
            <a:ext cx="300549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Position Tracking: Maintains the (x, y) coordinates of the node within the grid representing the environment.</a:t>
            </a:r>
            <a:endParaRPr lang="en-US" sz="17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9446" y="4571286"/>
            <a:ext cx="566976" cy="56697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139446" y="5365075"/>
            <a:ext cx="300561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Parent-Child Relationships: Stores a reference to the parent node, allowing for path reconstruction from goal to start.</a:t>
            </a:r>
            <a:endParaRPr lang="en-US" sz="17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5221" y="4571286"/>
            <a:ext cx="566976" cy="56697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485221" y="5365075"/>
            <a:ext cx="300561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Cost Calculations: Calculates the path cost (g) and heuristic cost (h) to guide the search algorithm.</a:t>
            </a:r>
            <a:endParaRPr lang="en-US" sz="175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30997" y="4571286"/>
            <a:ext cx="566976" cy="566976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0830997" y="5365075"/>
            <a:ext cx="3005614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Priority Queue Compatibility: Implements the necessary methods to be used with a priority queue, enabling efficient node sorting for A* search.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8509"/>
            <a:ext cx="57842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Robot Class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Robot Functionality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Robot class encapsulates the functionalities of a mobile robot, including its physical characteristics, movement capabilities, and interaction with the environment.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215408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This class implements unicycle model kinematics, enabling the robot to move and rotate based on its wheel velocities. It also handles path planning and obstacle avoidance, ensuring safe navigation.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491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Robot Parameters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70666"/>
            <a:ext cx="4120753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36489" y="3502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Position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992880"/>
            <a:ext cx="41207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(x, y)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54704" y="2470666"/>
            <a:ext cx="4120872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97523" y="3502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Orientation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54704" y="3992880"/>
            <a:ext cx="41208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(θ)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715738" y="2470666"/>
            <a:ext cx="4120753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58438" y="3502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Wheel Radius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715738" y="3992880"/>
            <a:ext cx="41207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3024188" y="5149572"/>
            <a:ext cx="4120872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4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3667006" y="61813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Base Width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024188" y="6671786"/>
            <a:ext cx="41208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85221" y="5149572"/>
            <a:ext cx="4120872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5</a:t>
            </a:r>
            <a:endParaRPr lang="en-US" sz="5850" dirty="0"/>
          </a:p>
        </p:txBody>
      </p:sp>
      <p:sp>
        <p:nvSpPr>
          <p:cNvPr id="16" name="Text 14"/>
          <p:cNvSpPr/>
          <p:nvPr/>
        </p:nvSpPr>
        <p:spPr>
          <a:xfrm>
            <a:off x="8128040" y="61813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Sensor Range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485221" y="6671786"/>
            <a:ext cx="41208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6365" y="567095"/>
            <a:ext cx="4785836" cy="598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Core Functionalities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6431994" y="1452443"/>
            <a:ext cx="22860" cy="6209943"/>
          </a:xfrm>
          <a:prstGeom prst="roundRect">
            <a:avLst>
              <a:gd name="adj" fmla="val 351720"/>
            </a:avLst>
          </a:prstGeom>
          <a:solidFill>
            <a:srgbClr val="BDB8DF"/>
          </a:solidFill>
          <a:ln/>
        </p:spPr>
      </p:sp>
      <p:sp>
        <p:nvSpPr>
          <p:cNvPr id="5" name="Shape 2"/>
          <p:cNvSpPr/>
          <p:nvPr/>
        </p:nvSpPr>
        <p:spPr>
          <a:xfrm>
            <a:off x="6635889" y="1871543"/>
            <a:ext cx="669965" cy="22860"/>
          </a:xfrm>
          <a:prstGeom prst="roundRect">
            <a:avLst>
              <a:gd name="adj" fmla="val 351720"/>
            </a:avLst>
          </a:prstGeom>
          <a:solidFill>
            <a:srgbClr val="BDB8DF"/>
          </a:solidFill>
          <a:ln/>
        </p:spPr>
      </p:sp>
      <p:sp>
        <p:nvSpPr>
          <p:cNvPr id="6" name="Shape 3"/>
          <p:cNvSpPr/>
          <p:nvPr/>
        </p:nvSpPr>
        <p:spPr>
          <a:xfrm>
            <a:off x="6228100" y="1667708"/>
            <a:ext cx="430649" cy="430649"/>
          </a:xfrm>
          <a:prstGeom prst="roundRect">
            <a:avLst>
              <a:gd name="adj" fmla="val 18670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87405" y="1739384"/>
            <a:ext cx="112038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7496294" y="1643777"/>
            <a:ext cx="2392918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Motion Control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7496294" y="2057638"/>
            <a:ext cx="6464141" cy="612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Implementation of control algorithms to move the robot along a desired path, ensuring accurate trajectory following and obstacle avoidance.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635889" y="3471863"/>
            <a:ext cx="669965" cy="22860"/>
          </a:xfrm>
          <a:prstGeom prst="roundRect">
            <a:avLst>
              <a:gd name="adj" fmla="val 351720"/>
            </a:avLst>
          </a:prstGeom>
          <a:solidFill>
            <a:srgbClr val="BDB8DF"/>
          </a:solidFill>
          <a:ln/>
        </p:spPr>
      </p:sp>
      <p:sp>
        <p:nvSpPr>
          <p:cNvPr id="11" name="Shape 8"/>
          <p:cNvSpPr/>
          <p:nvPr/>
        </p:nvSpPr>
        <p:spPr>
          <a:xfrm>
            <a:off x="6228100" y="3268028"/>
            <a:ext cx="430649" cy="430649"/>
          </a:xfrm>
          <a:prstGeom prst="roundRect">
            <a:avLst>
              <a:gd name="adj" fmla="val 18670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60735" y="3339703"/>
            <a:ext cx="165378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7496294" y="3244096"/>
            <a:ext cx="2392918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Path Planning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7496294" y="3657957"/>
            <a:ext cx="6464141" cy="612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Utilizing the A* search algorithm, planning a collision-free path from the current robot position to the target location.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635889" y="5072182"/>
            <a:ext cx="669965" cy="22860"/>
          </a:xfrm>
          <a:prstGeom prst="roundRect">
            <a:avLst>
              <a:gd name="adj" fmla="val 351720"/>
            </a:avLst>
          </a:prstGeom>
          <a:solidFill>
            <a:srgbClr val="BDB8DF"/>
          </a:solidFill>
          <a:ln/>
        </p:spPr>
      </p:sp>
      <p:sp>
        <p:nvSpPr>
          <p:cNvPr id="16" name="Shape 13"/>
          <p:cNvSpPr/>
          <p:nvPr/>
        </p:nvSpPr>
        <p:spPr>
          <a:xfrm>
            <a:off x="6228100" y="4868347"/>
            <a:ext cx="430649" cy="430649"/>
          </a:xfrm>
          <a:prstGeom prst="roundRect">
            <a:avLst>
              <a:gd name="adj" fmla="val 18670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61688" y="4940022"/>
            <a:ext cx="163354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7496294" y="4844415"/>
            <a:ext cx="2392918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Obstacle Detection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7496294" y="5258276"/>
            <a:ext cx="6464141" cy="612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Utilizing sensors to detect obstacles in the environment, dynamically updating the map to avoid collisions during navigation.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635889" y="6672501"/>
            <a:ext cx="669965" cy="22860"/>
          </a:xfrm>
          <a:prstGeom prst="roundRect">
            <a:avLst>
              <a:gd name="adj" fmla="val 351720"/>
            </a:avLst>
          </a:prstGeom>
          <a:solidFill>
            <a:srgbClr val="BDB8DF"/>
          </a:solidFill>
          <a:ln/>
        </p:spPr>
      </p:sp>
      <p:sp>
        <p:nvSpPr>
          <p:cNvPr id="21" name="Shape 18"/>
          <p:cNvSpPr/>
          <p:nvPr/>
        </p:nvSpPr>
        <p:spPr>
          <a:xfrm>
            <a:off x="6228100" y="6468666"/>
            <a:ext cx="430649" cy="430649"/>
          </a:xfrm>
          <a:prstGeom prst="roundRect">
            <a:avLst>
              <a:gd name="adj" fmla="val 18670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55378" y="6540341"/>
            <a:ext cx="175974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4</a:t>
            </a:r>
            <a:endParaRPr lang="en-US" sz="2250" dirty="0"/>
          </a:p>
        </p:txBody>
      </p:sp>
      <p:sp>
        <p:nvSpPr>
          <p:cNvPr id="23" name="Text 20"/>
          <p:cNvSpPr/>
          <p:nvPr/>
        </p:nvSpPr>
        <p:spPr>
          <a:xfrm>
            <a:off x="7496294" y="6444734"/>
            <a:ext cx="2392918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State Visualization</a:t>
            </a:r>
            <a:endParaRPr lang="en-US" sz="1850" dirty="0"/>
          </a:p>
        </p:txBody>
      </p:sp>
      <p:sp>
        <p:nvSpPr>
          <p:cNvPr id="24" name="Text 21"/>
          <p:cNvSpPr/>
          <p:nvPr/>
        </p:nvSpPr>
        <p:spPr>
          <a:xfrm>
            <a:off x="7496294" y="6858595"/>
            <a:ext cx="6464141" cy="612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Providing a real-time visual representation of the robot's state, including its position, path, obstacles, and map information.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5827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Motion Control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507218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2734032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Sensor data: Sensors provide information about the robot's position, orientation, and surrounding environment.</a:t>
            </a:r>
            <a:endParaRPr lang="en-US" sz="17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868103"/>
            <a:ext cx="1134070" cy="154233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268022" y="4094917"/>
            <a:ext cx="608218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Control Algorithm: Calculates the desired wheel velocities based on the desired path and current state, ensuring accurate robot movement.</a:t>
            </a:r>
            <a:endParaRPr lang="en-US" sz="17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410438"/>
            <a:ext cx="1134070" cy="136088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268022" y="5637252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Actuators: Receive control signals from the algorithm and drive the robot's wheels to execute the desired motion.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407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Path Planning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189678"/>
            <a:ext cx="170021" cy="725805"/>
          </a:xfrm>
          <a:prstGeom prst="roundRect">
            <a:avLst>
              <a:gd name="adj" fmla="val 56033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790373" y="2189678"/>
            <a:ext cx="704623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A* Algorithm: A* search efficiently finds the shortest path from the robot's current position to the goal while taking into account obstacles.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620351" y="3142298"/>
            <a:ext cx="170021" cy="1088708"/>
          </a:xfrm>
          <a:prstGeom prst="roundRect">
            <a:avLst>
              <a:gd name="adj" fmla="val 56033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0534" y="3142298"/>
            <a:ext cx="670607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Dynamic Replanning: The A* algorithm dynamically replanns the path in real-time, adapting to changes in the environment or new obstacle detections.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960632" y="4457819"/>
            <a:ext cx="170021" cy="1088708"/>
          </a:xfrm>
          <a:prstGeom prst="roundRect">
            <a:avLst>
              <a:gd name="adj" fmla="val 56033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70815" y="4457819"/>
            <a:ext cx="636579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Obstacle Avoidance: The planned path ensures that the robot avoids collisions with detected obstacles, maintaining safety during navigation.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300913" y="5773341"/>
            <a:ext cx="170021" cy="1088708"/>
          </a:xfrm>
          <a:prstGeom prst="roundRect">
            <a:avLst>
              <a:gd name="adj" fmla="val 56033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11095" y="5773341"/>
            <a:ext cx="60255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Goal Tracking: The algorithm continuously tracks the robot's progress towards the goal, adjusting the path as necessary to reach the target.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217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Visualization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10" y="2550557"/>
            <a:ext cx="4221480" cy="422148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4341" y="2550557"/>
            <a:ext cx="4221599" cy="4221599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7391" y="2550557"/>
            <a:ext cx="4221599" cy="42215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6749" y="656645"/>
            <a:ext cx="4092787" cy="7795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ts val="5550"/>
              </a:lnSpc>
            </a:pPr>
            <a:r>
              <a:rPr lang="en-US" sz="4450" b="1" dirty="0" smtClean="0">
                <a:solidFill>
                  <a:srgbClr val="231971"/>
                </a:solidFill>
                <a:latin typeface="Outfit Extra Bold" pitchFamily="34" charset="0"/>
              </a:rPr>
              <a:t>Control System</a:t>
            </a:r>
            <a:endParaRPr lang="en-US" sz="4450" dirty="0">
              <a:solidFill>
                <a:prstClr val="black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657600" y="3376136"/>
            <a:ext cx="73152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python</a:t>
            </a:r>
          </a:p>
          <a:p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calculate_control_inputs</a:t>
            </a:r>
            <a:r>
              <a:rPr lang="en-US" dirty="0"/>
              <a:t>(</a:t>
            </a:r>
            <a:r>
              <a:rPr lang="en-US" dirty="0" err="1"/>
              <a:t>current_pos</a:t>
            </a:r>
            <a:r>
              <a:rPr lang="en-US" dirty="0"/>
              <a:t>, </a:t>
            </a:r>
            <a:r>
              <a:rPr lang="en-US" dirty="0" err="1"/>
              <a:t>next_pos</a:t>
            </a:r>
            <a:r>
              <a:rPr lang="en-US" dirty="0"/>
              <a:t>, </a:t>
            </a:r>
            <a:r>
              <a:rPr lang="en-US" dirty="0" err="1"/>
              <a:t>current_theta</a:t>
            </a:r>
            <a:r>
              <a:rPr lang="en-US" dirty="0"/>
              <a:t>):</a:t>
            </a:r>
          </a:p>
          <a:p>
            <a:r>
              <a:rPr lang="en-US" dirty="0"/>
              <a:t>    # Calculates required velocities</a:t>
            </a:r>
          </a:p>
          <a:p>
            <a:r>
              <a:rPr lang="en-US" dirty="0"/>
              <a:t>    # Uses proportional control</a:t>
            </a:r>
          </a:p>
          <a:p>
            <a:r>
              <a:rPr lang="en-US" dirty="0"/>
              <a:t>    # Returns linear and angular velocities (v, omega)</a:t>
            </a:r>
          </a:p>
        </p:txBody>
      </p:sp>
    </p:spTree>
    <p:extLst>
      <p:ext uri="{BB962C8B-B14F-4D97-AF65-F5344CB8AC3E}">
        <p14:creationId xmlns:p14="http://schemas.microsoft.com/office/powerpoint/2010/main" val="97354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82761" y="737419"/>
            <a:ext cx="625331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31971"/>
                </a:solidFill>
                <a:latin typeface="Outfit Extra Bold" pitchFamily="34" charset="0"/>
              </a:rPr>
              <a:t>T</a:t>
            </a:r>
            <a:r>
              <a:rPr lang="en-US" sz="4000" b="1" dirty="0" smtClean="0">
                <a:solidFill>
                  <a:srgbClr val="231971"/>
                </a:solidFill>
                <a:latin typeface="Outfit Extra Bold" pitchFamily="34" charset="0"/>
              </a:rPr>
              <a:t>echnical Specification</a:t>
            </a:r>
            <a:endParaRPr lang="en-US" sz="4000" b="1" dirty="0">
              <a:solidFill>
                <a:prstClr val="black"/>
              </a:solidFill>
            </a:endParaRP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657600" y="2545140"/>
            <a:ext cx="73152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Robot Parameters</a:t>
            </a:r>
          </a:p>
          <a:p>
            <a:r>
              <a:rPr lang="en-US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- Map size: 15x15 grid</a:t>
            </a:r>
          </a:p>
          <a:p>
            <a:r>
              <a:rPr lang="en-US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- Sensor range: 5.0 units</a:t>
            </a:r>
          </a:p>
          <a:p>
            <a:r>
              <a:rPr lang="en-US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- Wheel radius: 0.1 meters</a:t>
            </a:r>
          </a:p>
          <a:p>
            <a:r>
              <a:rPr lang="en-US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- Wheel base: 0.3 meters</a:t>
            </a:r>
          </a:p>
          <a:p>
            <a:r>
              <a:rPr lang="en-US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- Time step: 0.1 seconds</a:t>
            </a:r>
          </a:p>
          <a:p>
            <a:endParaRPr lang="en-US" dirty="0"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r>
              <a:rPr lang="en-US" dirty="0" smtClean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Control </a:t>
            </a:r>
            <a:r>
              <a:rPr lang="en-US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Parameters</a:t>
            </a:r>
          </a:p>
          <a:p>
            <a:r>
              <a:rPr lang="en-US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- Linear velocity gain (</a:t>
            </a:r>
            <a:r>
              <a:rPr lang="en-US" dirty="0" err="1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Kp_v</a:t>
            </a:r>
            <a:r>
              <a:rPr lang="en-US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): 0.5</a:t>
            </a:r>
          </a:p>
          <a:p>
            <a:r>
              <a:rPr lang="en-US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- Angular velocity gain (</a:t>
            </a:r>
            <a:r>
              <a:rPr lang="en-US" dirty="0" err="1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Kp_omega</a:t>
            </a:r>
            <a:r>
              <a:rPr lang="en-US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): 1.0</a:t>
            </a:r>
          </a:p>
          <a:p>
            <a:r>
              <a:rPr lang="en-US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- Maximum velocity limit: 0.5 m/s</a:t>
            </a:r>
          </a:p>
        </p:txBody>
      </p:sp>
    </p:spTree>
    <p:extLst>
      <p:ext uri="{BB962C8B-B14F-4D97-AF65-F5344CB8AC3E}">
        <p14:creationId xmlns:p14="http://schemas.microsoft.com/office/powerpoint/2010/main" val="2809768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5845" y="870155"/>
            <a:ext cx="71824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rgbClr val="231971"/>
                </a:solidFill>
                <a:latin typeface="Outfit Extra Bold" pitchFamily="34" charset="0"/>
              </a:rPr>
              <a:t>Simulation Flow</a:t>
            </a:r>
            <a:endParaRPr lang="en-US" sz="4400" b="1" dirty="0">
              <a:solidFill>
                <a:prstClr val="black"/>
              </a:solidFill>
            </a:endParaRPr>
          </a:p>
          <a:p>
            <a:endParaRPr lang="en-US" sz="4400" b="1" dirty="0">
              <a:solidFill>
                <a:srgbClr val="6600CC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657599" y="2545140"/>
            <a:ext cx="8554065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/>
              <a:t>1. **Initialization**</a:t>
            </a:r>
          </a:p>
          <a:p>
            <a:r>
              <a:rPr lang="en-GB" sz="2000" dirty="0"/>
              <a:t>   - Robot creation</a:t>
            </a:r>
          </a:p>
          <a:p>
            <a:r>
              <a:rPr lang="en-GB" sz="2000" dirty="0"/>
              <a:t>   - Setting initial pose</a:t>
            </a:r>
          </a:p>
          <a:p>
            <a:r>
              <a:rPr lang="en-GB" sz="2000" dirty="0"/>
              <a:t>   - Defining obstacles</a:t>
            </a:r>
          </a:p>
          <a:p>
            <a:r>
              <a:rPr lang="en-GB" sz="2000" dirty="0"/>
              <a:t>   - Initial path planning</a:t>
            </a:r>
          </a:p>
          <a:p>
            <a:endParaRPr lang="en-GB" sz="2000" dirty="0"/>
          </a:p>
          <a:p>
            <a:r>
              <a:rPr lang="en-GB" sz="2000" dirty="0"/>
              <a:t>2. **Main Control Loop**</a:t>
            </a:r>
          </a:p>
          <a:p>
            <a:r>
              <a:rPr lang="en-GB" sz="2000" dirty="0"/>
              <a:t>   - Path following</a:t>
            </a:r>
          </a:p>
          <a:p>
            <a:r>
              <a:rPr lang="en-GB" sz="2000" dirty="0"/>
              <a:t>   - Continuous state visualization</a:t>
            </a:r>
          </a:p>
          <a:p>
            <a:r>
              <a:rPr lang="en-GB" sz="2000" dirty="0"/>
              <a:t>   - Dynamic </a:t>
            </a:r>
            <a:r>
              <a:rPr lang="en-GB" sz="2000" dirty="0" err="1"/>
              <a:t>replanning</a:t>
            </a:r>
            <a:r>
              <a:rPr lang="en-GB" sz="2000" dirty="0"/>
              <a:t> if needed</a:t>
            </a:r>
          </a:p>
          <a:p>
            <a:r>
              <a:rPr lang="en-GB" sz="2000" dirty="0"/>
              <a:t>   - Goal checking</a:t>
            </a:r>
          </a:p>
        </p:txBody>
      </p:sp>
    </p:spTree>
    <p:extLst>
      <p:ext uri="{BB962C8B-B14F-4D97-AF65-F5344CB8AC3E}">
        <p14:creationId xmlns:p14="http://schemas.microsoft.com/office/powerpoint/2010/main" val="3679894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27355" y="722670"/>
            <a:ext cx="69612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231971"/>
                </a:solidFill>
                <a:latin typeface="Outfit Extra Bold" pitchFamily="34" charset="0"/>
              </a:rPr>
              <a:t> </a:t>
            </a:r>
            <a:r>
              <a:rPr lang="en-US" sz="4000" b="1" dirty="0" smtClean="0">
                <a:solidFill>
                  <a:srgbClr val="231971"/>
                </a:solidFill>
                <a:latin typeface="Outfit Extra Bold" pitchFamily="34" charset="0"/>
              </a:rPr>
              <a:t>Performance Considerations</a:t>
            </a:r>
            <a:endParaRPr lang="en-US" sz="4000" b="1" dirty="0">
              <a:solidFill>
                <a:prstClr val="black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70903" y="2905432"/>
            <a:ext cx="780189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1. Dynamic obstacle handling</a:t>
            </a:r>
          </a:p>
          <a:p>
            <a:r>
              <a:rPr lang="en-GB" sz="20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2. Path smoothing</a:t>
            </a:r>
          </a:p>
          <a:p>
            <a:r>
              <a:rPr lang="en-GB" sz="20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3. More sophisticated control algorithms</a:t>
            </a:r>
          </a:p>
          <a:p>
            <a:r>
              <a:rPr lang="en-GB" sz="20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4. Optimization of </a:t>
            </a:r>
            <a:r>
              <a:rPr lang="en-GB" sz="2000" dirty="0" err="1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replanning</a:t>
            </a:r>
            <a:r>
              <a:rPr lang="en-GB" sz="20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</a:t>
            </a:r>
            <a:r>
              <a:rPr lang="en-GB" sz="2000" dirty="0" err="1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frequenc</a:t>
            </a:r>
            <a:endParaRPr lang="en-GB" sz="2000" dirty="0"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170903" y="4580362"/>
            <a:ext cx="73152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## Usage Example</a:t>
            </a:r>
          </a:p>
          <a:p>
            <a:r>
              <a:rPr lang="en-US" sz="20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```python</a:t>
            </a:r>
          </a:p>
          <a:p>
            <a:r>
              <a:rPr lang="en-US" sz="20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# Basic usage</a:t>
            </a:r>
          </a:p>
          <a:p>
            <a:r>
              <a:rPr lang="en-US" sz="20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robot = Robot()</a:t>
            </a:r>
          </a:p>
          <a:p>
            <a:r>
              <a:rPr lang="en-US" sz="2000" dirty="0" err="1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robot.set_pose</a:t>
            </a:r>
            <a:r>
              <a:rPr lang="en-US" sz="20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(0, 0, 0)</a:t>
            </a:r>
          </a:p>
          <a:p>
            <a:r>
              <a:rPr lang="en-US" sz="2000" dirty="0" err="1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robot.set_obstacles</a:t>
            </a:r>
            <a:r>
              <a:rPr lang="en-US" sz="20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(obstacles)</a:t>
            </a:r>
          </a:p>
          <a:p>
            <a:r>
              <a:rPr lang="en-US" sz="20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path = </a:t>
            </a:r>
            <a:r>
              <a:rPr lang="en-US" sz="2000" dirty="0" err="1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robot.plan_path_astar</a:t>
            </a:r>
            <a:r>
              <a:rPr lang="en-US" sz="20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(start, goal)</a:t>
            </a:r>
          </a:p>
        </p:txBody>
      </p:sp>
    </p:spTree>
    <p:extLst>
      <p:ext uri="{BB962C8B-B14F-4D97-AF65-F5344CB8AC3E}">
        <p14:creationId xmlns:p14="http://schemas.microsoft.com/office/powerpoint/2010/main" val="1830909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0834" y="787879"/>
            <a:ext cx="8799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6600C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Performance Considerations</a:t>
            </a:r>
            <a:endParaRPr lang="en-US" sz="3600" b="1" dirty="0">
              <a:solidFill>
                <a:srgbClr val="6600CC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027" y="1903925"/>
            <a:ext cx="6450715" cy="455586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523" y="1897605"/>
            <a:ext cx="6847533" cy="456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529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5239" y="1278193"/>
            <a:ext cx="636147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rgbClr val="6600C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Output</a:t>
            </a:r>
            <a:endParaRPr lang="en-US" sz="4400" b="1" dirty="0">
              <a:solidFill>
                <a:srgbClr val="6600CC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472" y="2209031"/>
            <a:ext cx="6086475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273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31923" y="1199535"/>
            <a:ext cx="27222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solidFill>
                  <a:srgbClr val="6600C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Conclusion</a:t>
            </a:r>
            <a:endParaRPr lang="en-US" sz="4000" b="1" dirty="0">
              <a:solidFill>
                <a:srgbClr val="6600CC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32387" y="2939845"/>
            <a:ext cx="1259030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This implementation provides a solid foundation for robot navigation simulation</a:t>
            </a:r>
            <a:r>
              <a:rPr lang="en-US" sz="2000" dirty="0" smtClean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.</a:t>
            </a:r>
          </a:p>
          <a:p>
            <a:r>
              <a:rPr lang="en-US" sz="2000" dirty="0" smtClean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</a:t>
            </a:r>
          </a:p>
          <a:p>
            <a:r>
              <a:rPr lang="en-US" sz="2000" dirty="0" smtClean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It </a:t>
            </a:r>
            <a:r>
              <a:rPr lang="en-US" sz="20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successfully combines path planning, motion control, and visualization in a comprehensive system</a:t>
            </a:r>
            <a:r>
              <a:rPr lang="en-US" sz="2000" dirty="0" smtClean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.</a:t>
            </a:r>
          </a:p>
          <a:p>
            <a:endParaRPr lang="en-US" sz="2000" dirty="0"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r>
              <a:rPr lang="en-US" sz="2000" dirty="0" smtClean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The </a:t>
            </a:r>
            <a:r>
              <a:rPr lang="en-US" sz="20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code is well-structured and modular, making it suitable for educational purposes and further development</a:t>
            </a:r>
            <a:endParaRPr lang="en-US" sz="2000" dirty="0"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695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874</Words>
  <Application>Microsoft Office PowerPoint</Application>
  <PresentationFormat>Custom</PresentationFormat>
  <Paragraphs>127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Outfit Extra Bold</vt:lpstr>
      <vt:lpstr>Arimo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8</cp:revision>
  <dcterms:created xsi:type="dcterms:W3CDTF">2025-02-24T14:58:39Z</dcterms:created>
  <dcterms:modified xsi:type="dcterms:W3CDTF">2025-04-15T06:03:32Z</dcterms:modified>
</cp:coreProperties>
</file>